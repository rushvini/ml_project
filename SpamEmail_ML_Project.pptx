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d250bc23-420d-4d41-a016-5593a5fefdb8}">
          <p14:sldIdLst>
            <p14:sldId id="256"/>
          </p14:sldIdLst>
        </p14:section>
        <p14:section name="Project" id="{09d6234f-44cd-88b7-1ce4-fb546028bd72}">
          <p14:sldIdLst>
            <p14:sldId id="257"/>
          </p14:sldIdLst>
        </p14:section>
        <p14:section name="Modules" id="{4a617f67-bbbf-b963-520e-d896faa5c435}">
          <p14:sldIdLst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1262B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1262B"/>
                </a:solidFill>
                <a:latin typeface="+mn-lt"/>
              </a:rPr>
              <a:t>Top features by importance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spPr>
            <a:solidFill>
              <a:srgbClr val="1B7F7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1262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Contains_Link</c:v>
                  </c:pt>
                  <c:pt idx="1">
                    <c:v>Link_Count</c:v>
                  </c:pt>
                  <c:pt idx="2">
                    <c:v>word: please</c:v>
                  </c:pt>
                  <c:pt idx="3">
                    <c:v>word: is</c:v>
                  </c:pt>
                  <c:pt idx="4">
                    <c:v>word: thank</c:v>
                  </c:pt>
                  <c:pt idx="5">
                    <c:v>word: project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44</c:v>
                </c:pt>
                <c:pt idx="1">
                  <c:v>18</c:v>
                </c:pt>
                <c:pt idx="2">
                  <c:v>12</c:v>
                </c:pt>
                <c:pt idx="3">
                  <c:v>9</c:v>
                </c:pt>
                <c:pt idx="4">
                  <c:v>2</c:v>
                </c:pt>
                <c:pt idx="5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1262B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E3E44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E3E44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1262B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1262B"/>
                </a:solidFill>
                <a:latin typeface="+mn-lt"/>
              </a:rPr>
              <a:t>Emails per cluster by true label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Spam</c:v>
                </c:pt>
              </c:strCache>
            </c:strRef>
          </c:tx>
          <c:spPr>
            <a:solidFill>
              <a:srgbClr val="D9534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Cluster 0</c:v>
                  </c:pt>
                  <c:pt idx="1">
                    <c:v>Cluster 1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500</c:v>
                </c:pt>
                <c:pt idx="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Ham</c:v>
                </c:pt>
              </c:strCache>
            </c:strRef>
          </c:tx>
          <c:spPr>
            <a:solidFill>
              <a:srgbClr val="1B7F7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Cluster 0</c:v>
                  </c:pt>
                  <c:pt idx="1">
                    <c:v>Cluster 1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118</c:v>
                </c:pt>
                <c:pt idx="1">
                  <c:v>382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+mn-lt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E3E44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E3E44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2E3E44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1262B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1262B"/>
                </a:solidFill>
                <a:latin typeface="+mn-lt"/>
              </a:rPr>
              <a:t>Accuracy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Standard 5-fold CV</c:v>
                </c:pt>
              </c:strCache>
            </c:strRef>
          </c:tx>
          <c:spPr>
            <a:solidFill>
              <a:srgbClr val="1B7F7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1262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Logistic Regression</c:v>
                  </c:pt>
                  <c:pt idx="1">
                    <c:v>Decision Tree</c:v>
                  </c:pt>
                  <c:pt idx="2">
                    <c:v>XGBoost-style boosting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100</c:v>
                </c:pt>
                <c:pt idx="1">
                  <c:v>99.5</c:v>
                </c:pt>
                <c:pt idx="2">
                  <c:v>100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Unseen wording check</c:v>
                </c:pt>
              </c:strCache>
            </c:strRef>
          </c:tx>
          <c:spPr>
            <a:solidFill>
              <a:srgbClr val="E8A33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1262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Logistic Regression</c:v>
                  </c:pt>
                  <c:pt idx="1">
                    <c:v>Decision Tree</c:v>
                  </c:pt>
                  <c:pt idx="2">
                    <c:v>XGBoost-style boosting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100</c:v>
                </c:pt>
                <c:pt idx="1">
                  <c:v>93.9</c:v>
                </c:pt>
                <c:pt idx="2">
                  <c:v>87.2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1262B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E3E44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5"/>
          <c:min val="6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E3E44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2E3E44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project, team and guide. The deck walks through the six course modules (M1 to M6) and shows where each one appears in the spam classifier.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Spam is not only annoying; it carries phishing links, fraud and malware. The goal is an accurate classifier that rarely flags a genuine email as spam. The dataset is small and labelled: 1,000 emails, 500 spam and 500 ham.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lifecycle as the PlacementPredict case study in M1. Supervised binary classification: inputs are email features, output is Spam or Ham. The key risk is training-serving skew, so one pipeline object does the preprocessing in both places.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Logistic regression gives a transparent baseline. Text is converted with TF-IDF, numeric columns are standardised, categorical columns are one-hot encoded, and L2 regularisation keeps weights small.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Decision Tree splits greedily by Gini impurity and is limited by depth to avoid overfitting. XGBoost builds trees one after another, each correcting the previous errors. Chart: feature importance from a gradient-boosted tree model (scikit-learn implementation used as a stand-in for XGBoost in this run).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K-means with k=2 on the combined features. One cluster contains all 500 spam emails plus 118 ham emails; the other holds 382 pure ham. Silhouette score around 0.22 and the first two PCA components explain about 49 percent of variance.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Stratified 5-fold cross-validation keeps the spam-to-ham ratio in every fold. Precision matters because a false positive hides a real email; recall matters because a false negative lets spam through.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Stratified CV accuracy: Logistic Regression 100, Decision Tree 99.5, boosted trees 100. Because the dataset reuses about 40 template-style sentences, a second check holds out whole sentences: Logistic Regression 100, Decision Tree 93.9, boosted trees 87.2. Boosted-tree figures come from scikit-learn GradientBoosting; rerun with xgboost for final numbers.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Out-of-fold confusion matrices from 5-fold CV. Decision Tree: 495 true ham, 5 ham flagged as spam, 0 missed spam, 500 caught. Boosted trees: no errors in this split.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Package the full pipeline with joblib or ONNX, serve it with FastAPI, monitor performance and drift, and retrain on a schedule or when drift is detected. MLflow tracks experiments and DVC versions the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Maps each module to the part of the spam classifier where it is used.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Summarise: both models perform well; Decision Tree is interpretable; boosting handles complexity. Next steps are real-world data and deployment.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126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9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9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 circle"/>
          <p:cNvSpPr/>
          <p:nvPr/>
        </p:nvSpPr>
        <p:spPr>
          <a:xfrm>
            <a:off x="6583680" y="-1097280"/>
            <a:ext cx="4206240" cy="4206240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3" name="Decor circle 2"/>
          <p:cNvSpPr/>
          <p:nvPr/>
        </p:nvSpPr>
        <p:spPr>
          <a:xfrm>
            <a:off x="7589520" y="3017520"/>
            <a:ext cx="2377440" cy="23774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MACHINE LEARNING  ·  B.TECH CSE  ·  A.Y. 2026-27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51560"/>
            <a:ext cx="694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Spam Email Classification Using Decision Trees and XGBoost with Cross-Validation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88036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FE3E1"/>
                </a:solidFill>
              </a:rPr>
              <a:t>Teaching a model to tell spam from legitimate mail, built on the six modules of the course.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840480"/>
            <a:ext cx="6400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FFFFFF"/>
                </a:solidFill>
              </a:rPr>
              <a:t>Lohitha  ·  2520030109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FFFFFF"/>
                </a:solidFill>
              </a:rPr>
              <a:t>Rushvini  ·  2520030542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FFFFFF"/>
                </a:solidFill>
              </a:rPr>
              <a:t>Guide: Ms. Rani Medidha, Assistant Professor, CSE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 pill"/>
          <p:cNvSpPr/>
          <p:nvPr/>
        </p:nvSpPr>
        <p:spPr>
          <a:xfrm>
            <a:off x="457200" y="292608"/>
            <a:ext cx="2016252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20162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</a:rPr>
              <a:t>PROJECT AT A GLANCE</a:t>
            </a:r>
            <a:endParaRPr lang="en-US" sz="1100" dirty="0"/>
          </a:p>
        </p:txBody>
      </p:sp>
      <p:sp>
        <p:nvSpPr>
          <p:cNvPr id="4" name="Title"/>
          <p:cNvSpPr txBox="1"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spam detection matters</a:t>
            </a:r>
            <a:endParaRPr lang="en-US" sz="3000" dirty="0"/>
          </a:p>
        </p:txBody>
      </p:sp>
      <p:sp>
        <p:nvSpPr>
          <p:cNvPr id="6" name="Card"/>
          <p:cNvSpPr/>
          <p:nvPr/>
        </p:nvSpPr>
        <p:spPr>
          <a:xfrm>
            <a:off x="457200" y="1508760"/>
            <a:ext cx="457200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40080" y="161848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The problem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196596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Spam wastes time and carries phishing links, fraudulent offers and malware.</a:t>
            </a:r>
            <a:endParaRPr lang="en-US" sz="1400" dirty="0"/>
          </a:p>
        </p:txBody>
      </p:sp>
      <p:sp>
        <p:nvSpPr>
          <p:cNvPr id="9" name="Card"/>
          <p:cNvSpPr/>
          <p:nvPr/>
        </p:nvSpPr>
        <p:spPr>
          <a:xfrm>
            <a:off x="457200" y="2971800"/>
            <a:ext cx="457200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40080" y="308152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The objective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640080" y="3429000"/>
            <a:ext cx="4206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Classify every email as Spam or Ham using a Decision Tree and XGBoost, and compare them fairly with cross-validation.</a:t>
            </a:r>
            <a:endParaRPr lang="en-US" sz="1400" dirty="0"/>
          </a:p>
        </p:txBody>
      </p:sp>
      <p:sp>
        <p:nvSpPr>
          <p:cNvPr id="12" name="Stat card"/>
          <p:cNvSpPr/>
          <p:nvPr/>
        </p:nvSpPr>
        <p:spPr>
          <a:xfrm>
            <a:off x="5303520" y="1508760"/>
            <a:ext cx="3383280" cy="914400"/>
          </a:xfrm>
          <a:prstGeom prst="roundRect">
            <a:avLst>
              <a:gd name="adj" fmla="val 8000"/>
            </a:avLst>
          </a:prstGeom>
          <a:solidFill>
            <a:schemeClr val="tx1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440680" y="150876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1,000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6812280" y="150876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labelled emails</a:t>
            </a:r>
            <a:endParaRPr lang="en-US" sz="1200" dirty="0"/>
          </a:p>
        </p:txBody>
      </p:sp>
      <p:sp>
        <p:nvSpPr>
          <p:cNvPr id="15" name="Stat card"/>
          <p:cNvSpPr/>
          <p:nvPr/>
        </p:nvSpPr>
        <p:spPr>
          <a:xfrm>
            <a:off x="5303520" y="2532888"/>
            <a:ext cx="3383280" cy="914400"/>
          </a:xfrm>
          <a:prstGeom prst="roundRect">
            <a:avLst>
              <a:gd name="adj" fmla="val 8000"/>
            </a:avLst>
          </a:prstGeom>
          <a:solidFill>
            <a:schemeClr val="tx1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5440680" y="2532888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 : 50</a:t>
            </a:r>
            <a:endParaRPr lang="en-US" sz="2600" dirty="0"/>
          </a:p>
        </p:txBody>
      </p:sp>
      <p:sp>
        <p:nvSpPr>
          <p:cNvPr id="17" name="Text 14"/>
          <p:cNvSpPr txBox="1"/>
          <p:nvPr/>
        </p:nvSpPr>
        <p:spPr>
          <a:xfrm>
            <a:off x="6812280" y="2532888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spam to ham, balanced</a:t>
            </a:r>
            <a:endParaRPr lang="en-US" sz="1200" dirty="0"/>
          </a:p>
        </p:txBody>
      </p:sp>
      <p:sp>
        <p:nvSpPr>
          <p:cNvPr id="18" name="Stat card"/>
          <p:cNvSpPr/>
          <p:nvPr/>
        </p:nvSpPr>
        <p:spPr>
          <a:xfrm>
            <a:off x="5303520" y="3557016"/>
            <a:ext cx="3383280" cy="914400"/>
          </a:xfrm>
          <a:prstGeom prst="roundRect">
            <a:avLst>
              <a:gd name="adj" fmla="val 8000"/>
            </a:avLst>
          </a:prstGeom>
          <a:solidFill>
            <a:schemeClr val="tx1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5440680" y="3557016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3600" dirty="0"/>
          </a:p>
        </p:txBody>
      </p:sp>
      <p:sp>
        <p:nvSpPr>
          <p:cNvPr id="20" name="Text 17"/>
          <p:cNvSpPr txBox="1"/>
          <p:nvPr/>
        </p:nvSpPr>
        <p:spPr>
          <a:xfrm>
            <a:off x="6812280" y="3557016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input features: text, sender, links, attachment, urgency, length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9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 pill"/>
          <p:cNvSpPr/>
          <p:nvPr/>
        </p:nvSpPr>
        <p:spPr>
          <a:xfrm>
            <a:off x="457200" y="292608"/>
            <a:ext cx="2450592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2450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</a:rPr>
              <a:t>M1 · ML SYSTEM LIFECYCLE</a:t>
            </a:r>
            <a:endParaRPr lang="en-US" sz="1100" dirty="0"/>
          </a:p>
        </p:txBody>
      </p:sp>
      <p:sp>
        <p:nvSpPr>
          <p:cNvPr id="4" name="Title"/>
          <p:cNvSpPr txBox="1"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email to a live prediction</a:t>
            </a:r>
            <a:endParaRPr lang="en-US" sz="3000" dirty="0"/>
          </a:p>
        </p:txBody>
      </p:sp>
      <p:sp>
        <p:nvSpPr>
          <p:cNvPr id="6" name="Stage 1"/>
          <p:cNvSpPr/>
          <p:nvPr/>
        </p:nvSpPr>
        <p:spPr>
          <a:xfrm>
            <a:off x="457200" y="1554480"/>
            <a:ext cx="123444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457200" y="1609344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1920240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Raw data</a:t>
            </a:r>
            <a:endParaRPr lang="en-US" sz="1300" dirty="0"/>
          </a:p>
        </p:txBody>
      </p:sp>
      <p:sp>
        <p:nvSpPr>
          <p:cNvPr id="9" name="Arrow"/>
          <p:cNvSpPr/>
          <p:nvPr/>
        </p:nvSpPr>
        <p:spPr>
          <a:xfrm>
            <a:off x="1709928" y="2011680"/>
            <a:ext cx="128016" cy="228600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0" name="Stage 2"/>
          <p:cNvSpPr/>
          <p:nvPr/>
        </p:nvSpPr>
        <p:spPr>
          <a:xfrm>
            <a:off x="1856232" y="1554480"/>
            <a:ext cx="123444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856232" y="1609344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1901952" y="1920240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Cleaned dataset</a:t>
            </a:r>
            <a:endParaRPr lang="en-US" sz="1300" dirty="0"/>
          </a:p>
        </p:txBody>
      </p:sp>
      <p:sp>
        <p:nvSpPr>
          <p:cNvPr id="13" name="Arrow"/>
          <p:cNvSpPr/>
          <p:nvPr/>
        </p:nvSpPr>
        <p:spPr>
          <a:xfrm>
            <a:off x="3108960" y="2011680"/>
            <a:ext cx="128016" cy="228600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4" name="Stage 3"/>
          <p:cNvSpPr/>
          <p:nvPr/>
        </p:nvSpPr>
        <p:spPr>
          <a:xfrm>
            <a:off x="3255264" y="1554480"/>
            <a:ext cx="123444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3255264" y="1609344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3300984" y="1920240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Features</a:t>
            </a:r>
            <a:endParaRPr lang="en-US" sz="1300" dirty="0"/>
          </a:p>
        </p:txBody>
      </p:sp>
      <p:sp>
        <p:nvSpPr>
          <p:cNvPr id="17" name="Arrow"/>
          <p:cNvSpPr/>
          <p:nvPr/>
        </p:nvSpPr>
        <p:spPr>
          <a:xfrm>
            <a:off x="4507992" y="2011680"/>
            <a:ext cx="128016" cy="228600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8" name="Stage 4"/>
          <p:cNvSpPr/>
          <p:nvPr/>
        </p:nvSpPr>
        <p:spPr>
          <a:xfrm>
            <a:off x="4654296" y="1554480"/>
            <a:ext cx="1234440" cy="1051560"/>
          </a:xfrm>
          <a:prstGeom prst="roundRect">
            <a:avLst>
              <a:gd name="adj" fmla="val 6957"/>
            </a:avLst>
          </a:prstGeom>
          <a:solidFill>
            <a:schemeClr val="accent1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4654296" y="1609344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4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4700016" y="1920240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Trained model</a:t>
            </a:r>
            <a:endParaRPr lang="en-US" sz="1300" dirty="0"/>
          </a:p>
        </p:txBody>
      </p:sp>
      <p:sp>
        <p:nvSpPr>
          <p:cNvPr id="21" name="Arrow"/>
          <p:cNvSpPr/>
          <p:nvPr/>
        </p:nvSpPr>
        <p:spPr>
          <a:xfrm>
            <a:off x="5907024" y="2011680"/>
            <a:ext cx="128016" cy="228600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2" name="Stage 5"/>
          <p:cNvSpPr/>
          <p:nvPr/>
        </p:nvSpPr>
        <p:spPr>
          <a:xfrm>
            <a:off x="6053328" y="1554480"/>
            <a:ext cx="123444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6053328" y="1609344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5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6099048" y="1920240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Packaged model</a:t>
            </a:r>
            <a:endParaRPr lang="en-US" sz="1300" dirty="0"/>
          </a:p>
        </p:txBody>
      </p:sp>
      <p:sp>
        <p:nvSpPr>
          <p:cNvPr id="25" name="Arrow"/>
          <p:cNvSpPr/>
          <p:nvPr/>
        </p:nvSpPr>
        <p:spPr>
          <a:xfrm>
            <a:off x="7306056" y="2011680"/>
            <a:ext cx="128016" cy="228600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6" name="Stage 6"/>
          <p:cNvSpPr/>
          <p:nvPr/>
        </p:nvSpPr>
        <p:spPr>
          <a:xfrm>
            <a:off x="7452360" y="1554480"/>
            <a:ext cx="123444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7452360" y="1609344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6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7498080" y="1920240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Served and monitored</a:t>
            </a:r>
            <a:endParaRPr lang="en-US" sz="1300" dirty="0"/>
          </a:p>
        </p:txBody>
      </p:sp>
      <p:sp>
        <p:nvSpPr>
          <p:cNvPr id="29" name="Card"/>
          <p:cNvSpPr/>
          <p:nvPr/>
        </p:nvSpPr>
        <p:spPr>
          <a:xfrm>
            <a:off x="457200" y="2926080"/>
            <a:ext cx="402336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640080" y="303580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What this system is</a:t>
            </a:r>
            <a:endParaRPr lang="en-US" sz="1600" dirty="0"/>
          </a:p>
        </p:txBody>
      </p:sp>
      <p:sp>
        <p:nvSpPr>
          <p:cNvPr id="31" name="Text 28"/>
          <p:cNvSpPr txBox="1"/>
          <p:nvPr/>
        </p:nvSpPr>
        <p:spPr>
          <a:xfrm>
            <a:off x="640080" y="338328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Supervised classification: email features go in, a Spam or Ham label comes out.</a:t>
            </a:r>
            <a:endParaRPr lang="en-US" sz="1400" dirty="0"/>
          </a:p>
        </p:txBody>
      </p:sp>
      <p:sp>
        <p:nvSpPr>
          <p:cNvPr id="32" name="Card"/>
          <p:cNvSpPr/>
          <p:nvPr/>
        </p:nvSpPr>
        <p:spPr>
          <a:xfrm>
            <a:off x="4663440" y="2926080"/>
            <a:ext cx="402336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4846320" y="303580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Avoiding training-serving skew</a:t>
            </a:r>
            <a:endParaRPr lang="en-US" sz="1600" dirty="0"/>
          </a:p>
        </p:txBody>
      </p:sp>
      <p:sp>
        <p:nvSpPr>
          <p:cNvPr id="34" name="Text 31"/>
          <p:cNvSpPr txBox="1"/>
          <p:nvPr/>
        </p:nvSpPr>
        <p:spPr>
          <a:xfrm>
            <a:off x="4846320" y="338328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One pipeline object applies the same preprocessing when training and when predicting.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9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 pill"/>
          <p:cNvSpPr/>
          <p:nvPr/>
        </p:nvSpPr>
        <p:spPr>
          <a:xfrm>
            <a:off x="457200" y="292608"/>
            <a:ext cx="3753612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37536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</a:rPr>
              <a:t>M2 · SUPERVISED LEARNING: LINEAR MODELS</a:t>
            </a:r>
            <a:endParaRPr lang="en-US" sz="1100" dirty="0"/>
          </a:p>
        </p:txBody>
      </p:sp>
      <p:sp>
        <p:nvSpPr>
          <p:cNvPr id="4" name="Title"/>
          <p:cNvSpPr txBox="1"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 regression as the baseline</a:t>
            </a:r>
            <a:endParaRPr lang="en-US" sz="3000" dirty="0"/>
          </a:p>
        </p:txBody>
      </p:sp>
      <p:sp>
        <p:nvSpPr>
          <p:cNvPr id="6" name="Card"/>
          <p:cNvSpPr/>
          <p:nvPr/>
        </p:nvSpPr>
        <p:spPr>
          <a:xfrm>
            <a:off x="457200" y="1463040"/>
            <a:ext cx="402336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40080" y="15727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Sigmoid and cross-entropy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192024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Outputs a spam probability and learns by minimising cross-entropy loss.</a:t>
            </a:r>
            <a:endParaRPr lang="en-US" sz="1400" dirty="0"/>
          </a:p>
        </p:txBody>
      </p:sp>
      <p:sp>
        <p:nvSpPr>
          <p:cNvPr id="9" name="Card"/>
          <p:cNvSpPr/>
          <p:nvPr/>
        </p:nvSpPr>
        <p:spPr>
          <a:xfrm>
            <a:off x="4663440" y="1463040"/>
            <a:ext cx="402336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846320" y="15727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Scaling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4846320" y="192024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StandardScaler on Link_Count and Word_Count so no feature dominates.</a:t>
            </a:r>
            <a:endParaRPr lang="en-US" sz="1400" dirty="0"/>
          </a:p>
        </p:txBody>
      </p:sp>
      <p:sp>
        <p:nvSpPr>
          <p:cNvPr id="12" name="Card"/>
          <p:cNvSpPr/>
          <p:nvPr/>
        </p:nvSpPr>
        <p:spPr>
          <a:xfrm>
            <a:off x="457200" y="2926080"/>
            <a:ext cx="402336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40080" y="303580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Categorical encoding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640080" y="338328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One-hot encoding for Sender_Type, Contains_Link, Attachment and Urgency_Words.</a:t>
            </a:r>
            <a:endParaRPr lang="en-US" sz="1400" dirty="0"/>
          </a:p>
        </p:txBody>
      </p:sp>
      <p:sp>
        <p:nvSpPr>
          <p:cNvPr id="15" name="Card"/>
          <p:cNvSpPr/>
          <p:nvPr/>
        </p:nvSpPr>
        <p:spPr>
          <a:xfrm>
            <a:off x="4663440" y="2926080"/>
            <a:ext cx="402336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4846320" y="303580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Regularisation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4846320" y="338328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L2 (ridge) penalty shrinks weights and reduces overfitting.</a:t>
            </a:r>
            <a:endParaRPr lang="en-US" sz="1400" dirty="0"/>
          </a:p>
        </p:txBody>
      </p:sp>
      <p:sp>
        <p:nvSpPr>
          <p:cNvPr id="18" name="Result strip"/>
          <p:cNvSpPr/>
          <p:nvPr/>
        </p:nvSpPr>
        <p:spPr>
          <a:xfrm>
            <a:off x="457200" y="4389120"/>
            <a:ext cx="8229600" cy="365760"/>
          </a:xfrm>
          <a:prstGeom prst="roundRect">
            <a:avLst>
              <a:gd name="adj" fmla="val 20000"/>
            </a:avLst>
          </a:prstGeom>
          <a:solidFill>
            <a:schemeClr val="tx1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640080" y="438912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Baseline result: 100% accuracy in 5-fold cross-validation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9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 pill"/>
          <p:cNvSpPr/>
          <p:nvPr/>
        </p:nvSpPr>
        <p:spPr>
          <a:xfrm>
            <a:off x="457200" y="292608"/>
            <a:ext cx="4101084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41010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</a:rPr>
              <a:t>M3 · SUPERVISED LEARNING: TREE-BASED MODELS</a:t>
            </a:r>
            <a:endParaRPr lang="en-US" sz="1100" dirty="0"/>
          </a:p>
        </p:txBody>
      </p:sp>
      <p:sp>
        <p:nvSpPr>
          <p:cNvPr id="4" name="Title"/>
          <p:cNvSpPr txBox="1"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Tree and XGBoost</a:t>
            </a:r>
            <a:endParaRPr lang="en-US" sz="3000" dirty="0"/>
          </a:p>
        </p:txBody>
      </p:sp>
      <p:sp>
        <p:nvSpPr>
          <p:cNvPr id="6" name="Card"/>
          <p:cNvSpPr/>
          <p:nvPr/>
        </p:nvSpPr>
        <p:spPr>
          <a:xfrm>
            <a:off x="457200" y="1463040"/>
            <a:ext cx="411480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40080" y="157276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Decision Tree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192024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Greedy splits on Gini impurity, depth limited to 6. Easy to read as if-then rules.</a:t>
            </a:r>
            <a:endParaRPr lang="en-US" sz="1400" dirty="0"/>
          </a:p>
        </p:txBody>
      </p:sp>
      <p:sp>
        <p:nvSpPr>
          <p:cNvPr id="9" name="Card"/>
          <p:cNvSpPr/>
          <p:nvPr/>
        </p:nvSpPr>
        <p:spPr>
          <a:xfrm>
            <a:off x="457200" y="3017520"/>
            <a:ext cx="411480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40080" y="312724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XGBoost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640080" y="347472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Boosting: each new tree corrects the errors of the last. Strong on tabular data.</a:t>
            </a:r>
            <a:endParaRPr lang="en-US" sz="14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4846320" y="1463040"/>
          <a:ext cx="384048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9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 pill"/>
          <p:cNvSpPr/>
          <p:nvPr/>
        </p:nvSpPr>
        <p:spPr>
          <a:xfrm>
            <a:off x="457200" y="292608"/>
            <a:ext cx="2624328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262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</a:rPr>
              <a:t>M4 · UNSUPERVISED LEARNING</a:t>
            </a:r>
            <a:endParaRPr lang="en-US" sz="1100" dirty="0"/>
          </a:p>
        </p:txBody>
      </p:sp>
      <p:sp>
        <p:nvSpPr>
          <p:cNvPr id="4" name="Title"/>
          <p:cNvSpPr txBox="1"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emails group naturally without labels?</a:t>
            </a:r>
            <a:endParaRPr lang="en-US" sz="3000" dirty="0"/>
          </a:p>
        </p:txBody>
      </p:sp>
      <p:sp>
        <p:nvSpPr>
          <p:cNvPr id="6" name="Card"/>
          <p:cNvSpPr/>
          <p:nvPr/>
        </p:nvSpPr>
        <p:spPr>
          <a:xfrm>
            <a:off x="457200" y="1463040"/>
            <a:ext cx="393192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40080" y="157276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K-means (k = 2)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19202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Silhouette score about 0.22.</a:t>
            </a:r>
            <a:endParaRPr lang="en-US" sz="1400" dirty="0"/>
          </a:p>
        </p:txBody>
      </p:sp>
      <p:sp>
        <p:nvSpPr>
          <p:cNvPr id="9" name="Card"/>
          <p:cNvSpPr/>
          <p:nvPr/>
        </p:nvSpPr>
        <p:spPr>
          <a:xfrm>
            <a:off x="457200" y="2560320"/>
            <a:ext cx="393192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40080" y="267004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PCA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640080" y="30175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Two components capture about 49% of the variance.</a:t>
            </a:r>
            <a:endParaRPr lang="en-US" sz="1400" dirty="0"/>
          </a:p>
        </p:txBody>
      </p:sp>
      <p:sp>
        <p:nvSpPr>
          <p:cNvPr id="12" name="Card"/>
          <p:cNvSpPr/>
          <p:nvPr/>
        </p:nvSpPr>
        <p:spPr>
          <a:xfrm>
            <a:off x="457200" y="3657600"/>
            <a:ext cx="393192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40080" y="376732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Finding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640080" y="41148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Spam forms its own group, with no labels used.</a:t>
            </a:r>
            <a:endParaRPr lang="en-US" sz="140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4663440" y="1463040"/>
          <a:ext cx="402336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9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 pill"/>
          <p:cNvSpPr/>
          <p:nvPr/>
        </p:nvSpPr>
        <p:spPr>
          <a:xfrm>
            <a:off x="457200" y="292608"/>
            <a:ext cx="2884932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28849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</a:rPr>
              <a:t>M5 · EVALUATION AND SELECTION</a:t>
            </a:r>
            <a:endParaRPr lang="en-US" sz="1100" dirty="0"/>
          </a:p>
        </p:txBody>
      </p:sp>
      <p:sp>
        <p:nvSpPr>
          <p:cNvPr id="4" name="Title"/>
          <p:cNvSpPr txBox="1"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Cross-validation and the right metrics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4173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Stratified 5-fold CV</a:t>
            </a:r>
            <a:endParaRPr lang="en-US" sz="1600" dirty="0"/>
          </a:p>
        </p:txBody>
      </p:sp>
      <p:sp>
        <p:nvSpPr>
          <p:cNvPr id="7" name="Fold 1.1"/>
          <p:cNvSpPr/>
          <p:nvPr/>
        </p:nvSpPr>
        <p:spPr>
          <a:xfrm>
            <a:off x="457200" y="1783080"/>
            <a:ext cx="694944" cy="384048"/>
          </a:xfrm>
          <a:prstGeom prst="roundRect">
            <a:avLst>
              <a:gd name="adj" fmla="val 11905"/>
            </a:avLst>
          </a:prstGeom>
          <a:solidFill>
            <a:schemeClr val="accent2"/>
          </a:solidFill>
          <a:ln/>
        </p:spPr>
      </p:sp>
      <p:sp>
        <p:nvSpPr>
          <p:cNvPr id="8" name="Fold 1.2"/>
          <p:cNvSpPr/>
          <p:nvPr/>
        </p:nvSpPr>
        <p:spPr>
          <a:xfrm>
            <a:off x="1207008" y="1783080"/>
            <a:ext cx="694944" cy="384048"/>
          </a:xfrm>
          <a:prstGeom prst="roundRect">
            <a:avLst>
              <a:gd name="adj" fmla="val 11905"/>
            </a:avLst>
          </a:prstGeom>
          <a:solidFill>
            <a:schemeClr val="accent1"/>
          </a:solidFill>
          <a:ln/>
        </p:spPr>
      </p:sp>
      <p:sp>
        <p:nvSpPr>
          <p:cNvPr id="9" name="Fold 1.3"/>
          <p:cNvSpPr/>
          <p:nvPr/>
        </p:nvSpPr>
        <p:spPr>
          <a:xfrm>
            <a:off x="1956816" y="1783080"/>
            <a:ext cx="694944" cy="384048"/>
          </a:xfrm>
          <a:prstGeom prst="roundRect">
            <a:avLst>
              <a:gd name="adj" fmla="val 11905"/>
            </a:avLst>
          </a:prstGeom>
          <a:solidFill>
            <a:schemeClr val="accent1"/>
          </a:solidFill>
          <a:ln/>
        </p:spPr>
      </p:sp>
      <p:sp>
        <p:nvSpPr>
          <p:cNvPr id="10" name="Fold 1.4"/>
          <p:cNvSpPr/>
          <p:nvPr/>
        </p:nvSpPr>
        <p:spPr>
          <a:xfrm>
            <a:off x="2706624" y="1783080"/>
            <a:ext cx="694944" cy="384048"/>
          </a:xfrm>
          <a:prstGeom prst="roundRect">
            <a:avLst>
              <a:gd name="adj" fmla="val 11905"/>
            </a:avLst>
          </a:prstGeom>
          <a:solidFill>
            <a:schemeClr val="accent1"/>
          </a:solidFill>
          <a:ln/>
        </p:spPr>
      </p:sp>
      <p:sp>
        <p:nvSpPr>
          <p:cNvPr id="11" name="Fold 1.5"/>
          <p:cNvSpPr/>
          <p:nvPr/>
        </p:nvSpPr>
        <p:spPr>
          <a:xfrm>
            <a:off x="3456432" y="1783080"/>
            <a:ext cx="694944" cy="384048"/>
          </a:xfrm>
          <a:prstGeom prst="roundRect">
            <a:avLst>
              <a:gd name="adj" fmla="val 11905"/>
            </a:avLst>
          </a:prstGeom>
          <a:solidFill>
            <a:schemeClr val="accent1"/>
          </a:solidFill>
          <a:ln/>
        </p:spPr>
      </p:sp>
      <p:sp>
        <p:nvSpPr>
          <p:cNvPr id="12" name="Fold 2.1"/>
          <p:cNvSpPr/>
          <p:nvPr/>
        </p:nvSpPr>
        <p:spPr>
          <a:xfrm>
            <a:off x="457200" y="2240280"/>
            <a:ext cx="694944" cy="384048"/>
          </a:xfrm>
          <a:prstGeom prst="roundRect">
            <a:avLst>
              <a:gd name="adj" fmla="val 11905"/>
            </a:avLst>
          </a:prstGeom>
          <a:solidFill>
            <a:schemeClr val="accent1"/>
          </a:solidFill>
          <a:ln/>
        </p:spPr>
      </p:sp>
      <p:sp>
        <p:nvSpPr>
          <p:cNvPr id="13" name="Fold 2.2"/>
          <p:cNvSpPr/>
          <p:nvPr/>
        </p:nvSpPr>
        <p:spPr>
          <a:xfrm>
            <a:off x="1207008" y="2240280"/>
            <a:ext cx="694944" cy="384048"/>
          </a:xfrm>
          <a:prstGeom prst="roundRect">
            <a:avLst>
              <a:gd name="adj" fmla="val 11905"/>
            </a:avLst>
          </a:prstGeom>
          <a:solidFill>
            <a:schemeClr val="accent2"/>
          </a:solidFill>
          <a:ln/>
        </p:spPr>
      </p:sp>
      <p:sp>
        <p:nvSpPr>
          <p:cNvPr id="14" name="Fold 2.3"/>
          <p:cNvSpPr/>
          <p:nvPr/>
        </p:nvSpPr>
        <p:spPr>
          <a:xfrm>
            <a:off x="1956816" y="2240280"/>
            <a:ext cx="694944" cy="384048"/>
          </a:xfrm>
          <a:prstGeom prst="roundRect">
            <a:avLst>
              <a:gd name="adj" fmla="val 11905"/>
            </a:avLst>
          </a:prstGeom>
          <a:solidFill>
            <a:schemeClr val="accent1"/>
          </a:solidFill>
          <a:ln/>
        </p:spPr>
      </p:sp>
      <p:sp>
        <p:nvSpPr>
          <p:cNvPr id="15" name="Fold 2.4"/>
          <p:cNvSpPr/>
          <p:nvPr/>
        </p:nvSpPr>
        <p:spPr>
          <a:xfrm>
            <a:off x="2706624" y="2240280"/>
            <a:ext cx="694944" cy="384048"/>
          </a:xfrm>
          <a:prstGeom prst="roundRect">
            <a:avLst>
              <a:gd name="adj" fmla="val 11905"/>
            </a:avLst>
          </a:prstGeom>
          <a:solidFill>
            <a:schemeClr val="accent1"/>
          </a:solidFill>
          <a:ln/>
        </p:spPr>
      </p:sp>
      <p:sp>
        <p:nvSpPr>
          <p:cNvPr id="16" name="Fold 2.5"/>
          <p:cNvSpPr/>
          <p:nvPr/>
        </p:nvSpPr>
        <p:spPr>
          <a:xfrm>
            <a:off x="3456432" y="2240280"/>
            <a:ext cx="694944" cy="384048"/>
          </a:xfrm>
          <a:prstGeom prst="roundRect">
            <a:avLst>
              <a:gd name="adj" fmla="val 11905"/>
            </a:avLst>
          </a:prstGeom>
          <a:solidFill>
            <a:schemeClr val="accent1"/>
          </a:solidFill>
          <a:ln/>
        </p:spPr>
      </p:sp>
      <p:sp>
        <p:nvSpPr>
          <p:cNvPr id="17" name="Fold 3.1"/>
          <p:cNvSpPr/>
          <p:nvPr/>
        </p:nvSpPr>
        <p:spPr>
          <a:xfrm>
            <a:off x="457200" y="2697480"/>
            <a:ext cx="694944" cy="384048"/>
          </a:xfrm>
          <a:prstGeom prst="roundRect">
            <a:avLst>
              <a:gd name="adj" fmla="val 11905"/>
            </a:avLst>
          </a:prstGeom>
          <a:solidFill>
            <a:schemeClr val="accent1"/>
          </a:solidFill>
          <a:ln/>
        </p:spPr>
      </p:sp>
      <p:sp>
        <p:nvSpPr>
          <p:cNvPr id="18" name="Fold 3.2"/>
          <p:cNvSpPr/>
          <p:nvPr/>
        </p:nvSpPr>
        <p:spPr>
          <a:xfrm>
            <a:off x="1207008" y="2697480"/>
            <a:ext cx="694944" cy="384048"/>
          </a:xfrm>
          <a:prstGeom prst="roundRect">
            <a:avLst>
              <a:gd name="adj" fmla="val 11905"/>
            </a:avLst>
          </a:prstGeom>
          <a:solidFill>
            <a:schemeClr val="accent1"/>
          </a:solidFill>
          <a:ln/>
        </p:spPr>
      </p:sp>
      <p:sp>
        <p:nvSpPr>
          <p:cNvPr id="19" name="Fold 3.3"/>
          <p:cNvSpPr/>
          <p:nvPr/>
        </p:nvSpPr>
        <p:spPr>
          <a:xfrm>
            <a:off x="1956816" y="2697480"/>
            <a:ext cx="694944" cy="384048"/>
          </a:xfrm>
          <a:prstGeom prst="roundRect">
            <a:avLst>
              <a:gd name="adj" fmla="val 11905"/>
            </a:avLst>
          </a:prstGeom>
          <a:solidFill>
            <a:schemeClr val="accent2"/>
          </a:solidFill>
          <a:ln/>
        </p:spPr>
      </p:sp>
      <p:sp>
        <p:nvSpPr>
          <p:cNvPr id="20" name="Fold 3.4"/>
          <p:cNvSpPr/>
          <p:nvPr/>
        </p:nvSpPr>
        <p:spPr>
          <a:xfrm>
            <a:off x="2706624" y="2697480"/>
            <a:ext cx="694944" cy="384048"/>
          </a:xfrm>
          <a:prstGeom prst="roundRect">
            <a:avLst>
              <a:gd name="adj" fmla="val 11905"/>
            </a:avLst>
          </a:prstGeom>
          <a:solidFill>
            <a:schemeClr val="accent1"/>
          </a:solidFill>
          <a:ln/>
        </p:spPr>
      </p:sp>
      <p:sp>
        <p:nvSpPr>
          <p:cNvPr id="21" name="Fold 3.5"/>
          <p:cNvSpPr/>
          <p:nvPr/>
        </p:nvSpPr>
        <p:spPr>
          <a:xfrm>
            <a:off x="3456432" y="2697480"/>
            <a:ext cx="694944" cy="384048"/>
          </a:xfrm>
          <a:prstGeom prst="roundRect">
            <a:avLst>
              <a:gd name="adj" fmla="val 11905"/>
            </a:avLst>
          </a:prstGeom>
          <a:solidFill>
            <a:schemeClr val="accent1"/>
          </a:solidFill>
          <a:ln/>
        </p:spPr>
      </p:sp>
      <p:sp>
        <p:nvSpPr>
          <p:cNvPr id="22" name="Fold 4.1"/>
          <p:cNvSpPr/>
          <p:nvPr/>
        </p:nvSpPr>
        <p:spPr>
          <a:xfrm>
            <a:off x="457200" y="3154680"/>
            <a:ext cx="694944" cy="384048"/>
          </a:xfrm>
          <a:prstGeom prst="roundRect">
            <a:avLst>
              <a:gd name="adj" fmla="val 11905"/>
            </a:avLst>
          </a:prstGeom>
          <a:solidFill>
            <a:schemeClr val="accent1"/>
          </a:solidFill>
          <a:ln/>
        </p:spPr>
      </p:sp>
      <p:sp>
        <p:nvSpPr>
          <p:cNvPr id="23" name="Fold 4.2"/>
          <p:cNvSpPr/>
          <p:nvPr/>
        </p:nvSpPr>
        <p:spPr>
          <a:xfrm>
            <a:off x="1207008" y="3154680"/>
            <a:ext cx="694944" cy="384048"/>
          </a:xfrm>
          <a:prstGeom prst="roundRect">
            <a:avLst>
              <a:gd name="adj" fmla="val 11905"/>
            </a:avLst>
          </a:prstGeom>
          <a:solidFill>
            <a:schemeClr val="accent1"/>
          </a:solidFill>
          <a:ln/>
        </p:spPr>
      </p:sp>
      <p:sp>
        <p:nvSpPr>
          <p:cNvPr id="24" name="Fold 4.3"/>
          <p:cNvSpPr/>
          <p:nvPr/>
        </p:nvSpPr>
        <p:spPr>
          <a:xfrm>
            <a:off x="1956816" y="3154680"/>
            <a:ext cx="694944" cy="384048"/>
          </a:xfrm>
          <a:prstGeom prst="roundRect">
            <a:avLst>
              <a:gd name="adj" fmla="val 11905"/>
            </a:avLst>
          </a:prstGeom>
          <a:solidFill>
            <a:schemeClr val="accent1"/>
          </a:solidFill>
          <a:ln/>
        </p:spPr>
      </p:sp>
      <p:sp>
        <p:nvSpPr>
          <p:cNvPr id="25" name="Fold 4.4"/>
          <p:cNvSpPr/>
          <p:nvPr/>
        </p:nvSpPr>
        <p:spPr>
          <a:xfrm>
            <a:off x="2706624" y="3154680"/>
            <a:ext cx="694944" cy="384048"/>
          </a:xfrm>
          <a:prstGeom prst="roundRect">
            <a:avLst>
              <a:gd name="adj" fmla="val 11905"/>
            </a:avLst>
          </a:prstGeom>
          <a:solidFill>
            <a:schemeClr val="accent2"/>
          </a:solidFill>
          <a:ln/>
        </p:spPr>
      </p:sp>
      <p:sp>
        <p:nvSpPr>
          <p:cNvPr id="26" name="Fold 4.5"/>
          <p:cNvSpPr/>
          <p:nvPr/>
        </p:nvSpPr>
        <p:spPr>
          <a:xfrm>
            <a:off x="3456432" y="3154680"/>
            <a:ext cx="694944" cy="384048"/>
          </a:xfrm>
          <a:prstGeom prst="roundRect">
            <a:avLst>
              <a:gd name="adj" fmla="val 11905"/>
            </a:avLst>
          </a:prstGeom>
          <a:solidFill>
            <a:schemeClr val="accent1"/>
          </a:solidFill>
          <a:ln/>
        </p:spPr>
      </p:sp>
      <p:sp>
        <p:nvSpPr>
          <p:cNvPr id="27" name="Fold 5.1"/>
          <p:cNvSpPr/>
          <p:nvPr/>
        </p:nvSpPr>
        <p:spPr>
          <a:xfrm>
            <a:off x="457200" y="3611880"/>
            <a:ext cx="694944" cy="384048"/>
          </a:xfrm>
          <a:prstGeom prst="roundRect">
            <a:avLst>
              <a:gd name="adj" fmla="val 11905"/>
            </a:avLst>
          </a:prstGeom>
          <a:solidFill>
            <a:schemeClr val="accent1"/>
          </a:solidFill>
          <a:ln/>
        </p:spPr>
      </p:sp>
      <p:sp>
        <p:nvSpPr>
          <p:cNvPr id="28" name="Fold 5.2"/>
          <p:cNvSpPr/>
          <p:nvPr/>
        </p:nvSpPr>
        <p:spPr>
          <a:xfrm>
            <a:off x="1207008" y="3611880"/>
            <a:ext cx="694944" cy="384048"/>
          </a:xfrm>
          <a:prstGeom prst="roundRect">
            <a:avLst>
              <a:gd name="adj" fmla="val 11905"/>
            </a:avLst>
          </a:prstGeom>
          <a:solidFill>
            <a:schemeClr val="accent1"/>
          </a:solidFill>
          <a:ln/>
        </p:spPr>
      </p:sp>
      <p:sp>
        <p:nvSpPr>
          <p:cNvPr id="29" name="Fold 5.3"/>
          <p:cNvSpPr/>
          <p:nvPr/>
        </p:nvSpPr>
        <p:spPr>
          <a:xfrm>
            <a:off x="1956816" y="3611880"/>
            <a:ext cx="694944" cy="384048"/>
          </a:xfrm>
          <a:prstGeom prst="roundRect">
            <a:avLst>
              <a:gd name="adj" fmla="val 11905"/>
            </a:avLst>
          </a:prstGeom>
          <a:solidFill>
            <a:schemeClr val="accent1"/>
          </a:solidFill>
          <a:ln/>
        </p:spPr>
      </p:sp>
      <p:sp>
        <p:nvSpPr>
          <p:cNvPr id="30" name="Fold 5.4"/>
          <p:cNvSpPr/>
          <p:nvPr/>
        </p:nvSpPr>
        <p:spPr>
          <a:xfrm>
            <a:off x="2706624" y="3611880"/>
            <a:ext cx="694944" cy="384048"/>
          </a:xfrm>
          <a:prstGeom prst="roundRect">
            <a:avLst>
              <a:gd name="adj" fmla="val 11905"/>
            </a:avLst>
          </a:prstGeom>
          <a:solidFill>
            <a:schemeClr val="accent1"/>
          </a:solidFill>
          <a:ln/>
        </p:spPr>
      </p:sp>
      <p:sp>
        <p:nvSpPr>
          <p:cNvPr id="31" name="Fold 5.5"/>
          <p:cNvSpPr/>
          <p:nvPr/>
        </p:nvSpPr>
        <p:spPr>
          <a:xfrm>
            <a:off x="3456432" y="3611880"/>
            <a:ext cx="694944" cy="384048"/>
          </a:xfrm>
          <a:prstGeom prst="roundRect">
            <a:avLst>
              <a:gd name="adj" fmla="val 11905"/>
            </a:avLst>
          </a:prstGeom>
          <a:solidFill>
            <a:schemeClr val="accent2"/>
          </a:solidFill>
          <a:ln/>
        </p:spPr>
      </p:sp>
      <p:sp>
        <p:nvSpPr>
          <p:cNvPr id="32" name="Key train"/>
          <p:cNvSpPr/>
          <p:nvPr/>
        </p:nvSpPr>
        <p:spPr>
          <a:xfrm>
            <a:off x="457200" y="4160520"/>
            <a:ext cx="274320" cy="201168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804672" y="411480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train</a:t>
            </a:r>
            <a:endParaRPr lang="en-US" sz="1200" dirty="0"/>
          </a:p>
        </p:txBody>
      </p:sp>
      <p:sp>
        <p:nvSpPr>
          <p:cNvPr id="34" name="Key test"/>
          <p:cNvSpPr/>
          <p:nvPr/>
        </p:nvSpPr>
        <p:spPr>
          <a:xfrm>
            <a:off x="1645920" y="4160520"/>
            <a:ext cx="274320" cy="201168"/>
          </a:xfrm>
          <a:prstGeom prst="roundRect">
            <a:avLst>
              <a:gd name="adj" fmla="val 18182"/>
            </a:avLst>
          </a:prstGeom>
          <a:solidFill>
            <a:schemeClr val="accent2"/>
          </a:solidFill>
          <a:ln/>
        </p:spPr>
      </p:sp>
      <p:sp>
        <p:nvSpPr>
          <p:cNvPr id="35" name="Text 32"/>
          <p:cNvSpPr txBox="1"/>
          <p:nvPr/>
        </p:nvSpPr>
        <p:spPr>
          <a:xfrm>
            <a:off x="1993392" y="411480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validate</a:t>
            </a:r>
            <a:endParaRPr lang="en-US" sz="1200" dirty="0"/>
          </a:p>
        </p:txBody>
      </p:sp>
      <p:sp>
        <p:nvSpPr>
          <p:cNvPr id="36" name="Metric card"/>
          <p:cNvSpPr/>
          <p:nvPr/>
        </p:nvSpPr>
        <p:spPr>
          <a:xfrm>
            <a:off x="4754880" y="1463040"/>
            <a:ext cx="3931920" cy="667512"/>
          </a:xfrm>
          <a:prstGeom prst="roundRect">
            <a:avLst>
              <a:gd name="adj" fmla="val 10959"/>
            </a:avLst>
          </a:prstGeom>
          <a:solidFill>
            <a:schemeClr val="bg2"/>
          </a:solidFill>
          <a:ln/>
        </p:spPr>
      </p:sp>
      <p:sp>
        <p:nvSpPr>
          <p:cNvPr id="37" name="Text 34"/>
          <p:cNvSpPr txBox="1"/>
          <p:nvPr/>
        </p:nvSpPr>
        <p:spPr>
          <a:xfrm>
            <a:off x="4937760" y="1463040"/>
            <a:ext cx="36576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7F79"/>
                </a:solidFill>
              </a:rPr>
              <a:t>Precision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11262B"/>
                </a:solidFill>
              </a:rPr>
              <a:t>Of emails flagged spam, how many really are</a:t>
            </a:r>
            <a:endParaRPr lang="en-US" sz="1500" dirty="0"/>
          </a:p>
        </p:txBody>
      </p:sp>
      <p:sp>
        <p:nvSpPr>
          <p:cNvPr id="38" name="Metric card"/>
          <p:cNvSpPr/>
          <p:nvPr/>
        </p:nvSpPr>
        <p:spPr>
          <a:xfrm>
            <a:off x="4754880" y="2221992"/>
            <a:ext cx="3931920" cy="667512"/>
          </a:xfrm>
          <a:prstGeom prst="roundRect">
            <a:avLst>
              <a:gd name="adj" fmla="val 10959"/>
            </a:avLst>
          </a:prstGeom>
          <a:solidFill>
            <a:schemeClr val="bg2"/>
          </a:solidFill>
          <a:ln/>
        </p:spPr>
      </p:sp>
      <p:sp>
        <p:nvSpPr>
          <p:cNvPr id="39" name="Text 36"/>
          <p:cNvSpPr txBox="1"/>
          <p:nvPr/>
        </p:nvSpPr>
        <p:spPr>
          <a:xfrm>
            <a:off x="4937760" y="2221992"/>
            <a:ext cx="36576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7F79"/>
                </a:solidFill>
              </a:rPr>
              <a:t>Recall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11262B"/>
                </a:solidFill>
              </a:rPr>
              <a:t>Of all spam, how many we caught</a:t>
            </a:r>
            <a:endParaRPr lang="en-US" sz="1500" dirty="0"/>
          </a:p>
        </p:txBody>
      </p:sp>
      <p:sp>
        <p:nvSpPr>
          <p:cNvPr id="40" name="Metric card"/>
          <p:cNvSpPr/>
          <p:nvPr/>
        </p:nvSpPr>
        <p:spPr>
          <a:xfrm>
            <a:off x="4754880" y="2980944"/>
            <a:ext cx="3931920" cy="667512"/>
          </a:xfrm>
          <a:prstGeom prst="roundRect">
            <a:avLst>
              <a:gd name="adj" fmla="val 10959"/>
            </a:avLst>
          </a:prstGeom>
          <a:solidFill>
            <a:schemeClr val="bg2"/>
          </a:solidFill>
          <a:ln/>
        </p:spPr>
      </p:sp>
      <p:sp>
        <p:nvSpPr>
          <p:cNvPr id="41" name="Text 38"/>
          <p:cNvSpPr txBox="1"/>
          <p:nvPr/>
        </p:nvSpPr>
        <p:spPr>
          <a:xfrm>
            <a:off x="4937760" y="2980944"/>
            <a:ext cx="36576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7F79"/>
                </a:solidFill>
              </a:rPr>
              <a:t>F1-score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11262B"/>
                </a:solidFill>
              </a:rPr>
              <a:t>Balance of precision and recall</a:t>
            </a:r>
            <a:endParaRPr lang="en-US" sz="1500" dirty="0"/>
          </a:p>
        </p:txBody>
      </p:sp>
      <p:sp>
        <p:nvSpPr>
          <p:cNvPr id="42" name="Metric card"/>
          <p:cNvSpPr/>
          <p:nvPr/>
        </p:nvSpPr>
        <p:spPr>
          <a:xfrm>
            <a:off x="4754880" y="3739896"/>
            <a:ext cx="3931920" cy="667512"/>
          </a:xfrm>
          <a:prstGeom prst="roundRect">
            <a:avLst>
              <a:gd name="adj" fmla="val 10959"/>
            </a:avLst>
          </a:prstGeom>
          <a:solidFill>
            <a:schemeClr val="bg2"/>
          </a:solidFill>
          <a:ln/>
        </p:spPr>
      </p:sp>
      <p:sp>
        <p:nvSpPr>
          <p:cNvPr id="43" name="Text 40"/>
          <p:cNvSpPr txBox="1"/>
          <p:nvPr/>
        </p:nvSpPr>
        <p:spPr>
          <a:xfrm>
            <a:off x="4937760" y="3739896"/>
            <a:ext cx="36576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7F79"/>
                </a:solidFill>
              </a:rPr>
              <a:t>Confusion matrix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11262B"/>
                </a:solidFill>
              </a:rPr>
              <a:t>Where the errors fall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9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 pill"/>
          <p:cNvSpPr/>
          <p:nvPr/>
        </p:nvSpPr>
        <p:spPr>
          <a:xfrm>
            <a:off x="457200" y="292608"/>
            <a:ext cx="2884932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28849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</a:rPr>
              <a:t>M5 · EVALUATION AND SELECTION</a:t>
            </a:r>
            <a:endParaRPr lang="en-US" sz="1100" dirty="0"/>
          </a:p>
        </p:txBody>
      </p:sp>
      <p:sp>
        <p:nvSpPr>
          <p:cNvPr id="4" name="Title"/>
          <p:cNvSpPr txBox="1"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comparison</a:t>
            </a:r>
            <a:endParaRPr lang="en-US" sz="3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1417320"/>
          <a:ext cx="521208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Card"/>
          <p:cNvSpPr/>
          <p:nvPr/>
        </p:nvSpPr>
        <p:spPr>
          <a:xfrm>
            <a:off x="5943600" y="1463040"/>
            <a:ext cx="274320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8" name="Text 4"/>
          <p:cNvSpPr txBox="1"/>
          <p:nvPr/>
        </p:nvSpPr>
        <p:spPr>
          <a:xfrm>
            <a:off x="6126480" y="157276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Seen patterns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6126480" y="192024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All models score 99.5 to 100% in standard CV.</a:t>
            </a:r>
            <a:endParaRPr lang="en-US" sz="1400" dirty="0"/>
          </a:p>
        </p:txBody>
      </p:sp>
      <p:sp>
        <p:nvSpPr>
          <p:cNvPr id="10" name="Card"/>
          <p:cNvSpPr/>
          <p:nvPr/>
        </p:nvSpPr>
        <p:spPr>
          <a:xfrm>
            <a:off x="5943600" y="3017520"/>
            <a:ext cx="2743200" cy="1508760"/>
          </a:xfrm>
          <a:prstGeom prst="roundRect">
            <a:avLst>
              <a:gd name="adj" fmla="val 4848"/>
            </a:avLst>
          </a:prstGeom>
          <a:solidFill>
            <a:srgbClr val="FDF1DC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6126480" y="312724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Unseen wording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6126480" y="347472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Scores drop, so test on genuinely new emails.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9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 pill"/>
          <p:cNvSpPr/>
          <p:nvPr/>
        </p:nvSpPr>
        <p:spPr>
          <a:xfrm>
            <a:off x="457200" y="292608"/>
            <a:ext cx="2884932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28849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</a:rPr>
              <a:t>M5 · EVALUATION AND SELECTION</a:t>
            </a:r>
            <a:endParaRPr lang="en-US" sz="1100" dirty="0"/>
          </a:p>
        </p:txBody>
      </p:sp>
      <p:sp>
        <p:nvSpPr>
          <p:cNvPr id="4" name="Title"/>
          <p:cNvSpPr txBox="1"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errors fall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417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Decision Tree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280160" y="1783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Pred Ham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2697480" y="1783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Pred Spam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2103120"/>
            <a:ext cx="822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Actual Ham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3017520"/>
            <a:ext cx="822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Actual Spam</a:t>
            </a:r>
            <a:endParaRPr lang="en-US" sz="1200" dirty="0"/>
          </a:p>
        </p:txBody>
      </p:sp>
      <p:sp>
        <p:nvSpPr>
          <p:cNvPr id="11" name="CM cell"/>
          <p:cNvSpPr/>
          <p:nvPr/>
        </p:nvSpPr>
        <p:spPr>
          <a:xfrm>
            <a:off x="1280160" y="2103120"/>
            <a:ext cx="1371600" cy="868680"/>
          </a:xfrm>
          <a:prstGeom prst="roundRect">
            <a:avLst>
              <a:gd name="adj" fmla="val 6316"/>
            </a:avLst>
          </a:prstGeom>
          <a:solidFill>
            <a:schemeClr val="accent1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1280160" y="210312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495</a:t>
            </a:r>
            <a:endParaRPr lang="en-US" sz="2600" dirty="0"/>
          </a:p>
        </p:txBody>
      </p:sp>
      <p:sp>
        <p:nvSpPr>
          <p:cNvPr id="13" name="CM cell"/>
          <p:cNvSpPr/>
          <p:nvPr/>
        </p:nvSpPr>
        <p:spPr>
          <a:xfrm>
            <a:off x="2697480" y="2103120"/>
            <a:ext cx="1371600" cy="868680"/>
          </a:xfrm>
          <a:prstGeom prst="roundRect">
            <a:avLst>
              <a:gd name="adj" fmla="val 6316"/>
            </a:avLst>
          </a:prstGeom>
          <a:solidFill>
            <a:schemeClr val="accent3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2697480" y="210312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sp>
        <p:nvSpPr>
          <p:cNvPr id="15" name="CM cell"/>
          <p:cNvSpPr/>
          <p:nvPr/>
        </p:nvSpPr>
        <p:spPr>
          <a:xfrm>
            <a:off x="1280160" y="3017520"/>
            <a:ext cx="1371600" cy="86868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280160" y="301752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600" dirty="0"/>
          </a:p>
        </p:txBody>
      </p:sp>
      <p:sp>
        <p:nvSpPr>
          <p:cNvPr id="17" name="CM cell"/>
          <p:cNvSpPr/>
          <p:nvPr/>
        </p:nvSpPr>
        <p:spPr>
          <a:xfrm>
            <a:off x="2697480" y="3017520"/>
            <a:ext cx="1371600" cy="868680"/>
          </a:xfrm>
          <a:prstGeom prst="roundRect">
            <a:avLst>
              <a:gd name="adj" fmla="val 6316"/>
            </a:avLst>
          </a:prstGeom>
          <a:solidFill>
            <a:schemeClr val="accent1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2697480" y="301752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500</a:t>
            </a:r>
            <a:endParaRPr lang="en-US" sz="2600" dirty="0"/>
          </a:p>
        </p:txBody>
      </p:sp>
      <p:sp>
        <p:nvSpPr>
          <p:cNvPr id="19" name="Text 16"/>
          <p:cNvSpPr txBox="1"/>
          <p:nvPr/>
        </p:nvSpPr>
        <p:spPr>
          <a:xfrm>
            <a:off x="4846320" y="1417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XGBoost-style boosting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5669280" y="1783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Pred Ham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7086600" y="1783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Pred Spam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4846320" y="2103120"/>
            <a:ext cx="822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Actual Ham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4846320" y="3017520"/>
            <a:ext cx="822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Actual Spam</a:t>
            </a:r>
            <a:endParaRPr lang="en-US" sz="1200" dirty="0"/>
          </a:p>
        </p:txBody>
      </p:sp>
      <p:sp>
        <p:nvSpPr>
          <p:cNvPr id="24" name="CM cell"/>
          <p:cNvSpPr/>
          <p:nvPr/>
        </p:nvSpPr>
        <p:spPr>
          <a:xfrm>
            <a:off x="5669280" y="2103120"/>
            <a:ext cx="1371600" cy="868680"/>
          </a:xfrm>
          <a:prstGeom prst="roundRect">
            <a:avLst>
              <a:gd name="adj" fmla="val 6316"/>
            </a:avLst>
          </a:prstGeom>
          <a:solidFill>
            <a:schemeClr val="accent1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5669280" y="210312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500</a:t>
            </a:r>
            <a:endParaRPr lang="en-US" sz="2600" dirty="0"/>
          </a:p>
        </p:txBody>
      </p:sp>
      <p:sp>
        <p:nvSpPr>
          <p:cNvPr id="26" name="CM cell"/>
          <p:cNvSpPr/>
          <p:nvPr/>
        </p:nvSpPr>
        <p:spPr>
          <a:xfrm>
            <a:off x="7086600" y="2103120"/>
            <a:ext cx="1371600" cy="86868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7086600" y="210312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600" dirty="0"/>
          </a:p>
        </p:txBody>
      </p:sp>
      <p:sp>
        <p:nvSpPr>
          <p:cNvPr id="28" name="CM cell"/>
          <p:cNvSpPr/>
          <p:nvPr/>
        </p:nvSpPr>
        <p:spPr>
          <a:xfrm>
            <a:off x="5669280" y="3017520"/>
            <a:ext cx="1371600" cy="86868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5669280" y="301752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600" dirty="0"/>
          </a:p>
        </p:txBody>
      </p:sp>
      <p:sp>
        <p:nvSpPr>
          <p:cNvPr id="30" name="CM cell"/>
          <p:cNvSpPr/>
          <p:nvPr/>
        </p:nvSpPr>
        <p:spPr>
          <a:xfrm>
            <a:off x="7086600" y="3017520"/>
            <a:ext cx="1371600" cy="868680"/>
          </a:xfrm>
          <a:prstGeom prst="roundRect">
            <a:avLst>
              <a:gd name="adj" fmla="val 6316"/>
            </a:avLst>
          </a:prstGeom>
          <a:solidFill>
            <a:schemeClr val="accent1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7086600" y="301752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500</a:t>
            </a:r>
            <a:endParaRPr lang="en-US" sz="2600" dirty="0"/>
          </a:p>
        </p:txBody>
      </p:sp>
      <p:sp>
        <p:nvSpPr>
          <p:cNvPr id="32" name="Takeaway"/>
          <p:cNvSpPr/>
          <p:nvPr/>
        </p:nvSpPr>
        <p:spPr>
          <a:xfrm>
            <a:off x="457200" y="411480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tx1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640080" y="41148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 false positive hides a real email, so precision is the metric to watch.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9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 pill"/>
          <p:cNvSpPr/>
          <p:nvPr/>
        </p:nvSpPr>
        <p:spPr>
          <a:xfrm>
            <a:off x="457200" y="292608"/>
            <a:ext cx="2016252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20162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</a:rPr>
              <a:t>M6 · ML ENGINEERING</a:t>
            </a:r>
            <a:endParaRPr lang="en-US" sz="1100" dirty="0"/>
          </a:p>
        </p:txBody>
      </p:sp>
      <p:sp>
        <p:nvSpPr>
          <p:cNvPr id="4" name="Title"/>
          <p:cNvSpPr txBox="1"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notebook to production</a:t>
            </a:r>
            <a:endParaRPr lang="en-US" sz="3000" dirty="0"/>
          </a:p>
        </p:txBody>
      </p:sp>
      <p:sp>
        <p:nvSpPr>
          <p:cNvPr id="6" name="Step card"/>
          <p:cNvSpPr/>
          <p:nvPr/>
        </p:nvSpPr>
        <p:spPr>
          <a:xfrm>
            <a:off x="457200" y="1508760"/>
            <a:ext cx="1920240" cy="242316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/>
        </p:spPr>
      </p:sp>
      <p:sp>
        <p:nvSpPr>
          <p:cNvPr id="7" name="Step badge"/>
          <p:cNvSpPr/>
          <p:nvPr/>
        </p:nvSpPr>
        <p:spPr>
          <a:xfrm>
            <a:off x="640080" y="16916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4008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22402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Package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2606040"/>
            <a:ext cx="1554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Save preprocessing and model as one pipeline (joblib or ONNX).</a:t>
            </a:r>
            <a:endParaRPr lang="en-US" sz="1400" dirty="0"/>
          </a:p>
        </p:txBody>
      </p:sp>
      <p:sp>
        <p:nvSpPr>
          <p:cNvPr id="11" name="Step card"/>
          <p:cNvSpPr/>
          <p:nvPr/>
        </p:nvSpPr>
        <p:spPr>
          <a:xfrm>
            <a:off x="2560320" y="1508760"/>
            <a:ext cx="1920240" cy="242316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/>
        </p:spPr>
      </p:sp>
      <p:sp>
        <p:nvSpPr>
          <p:cNvPr id="12" name="Step badge"/>
          <p:cNvSpPr/>
          <p:nvPr/>
        </p:nvSpPr>
        <p:spPr>
          <a:xfrm>
            <a:off x="2743200" y="16916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274320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2743200" y="22402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Serve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2743200" y="2606040"/>
            <a:ext cx="1554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FastAPI /predict endpoint returns Spam or Ham with a probability.</a:t>
            </a:r>
            <a:endParaRPr lang="en-US" sz="1400" dirty="0"/>
          </a:p>
        </p:txBody>
      </p:sp>
      <p:sp>
        <p:nvSpPr>
          <p:cNvPr id="16" name="Step card"/>
          <p:cNvSpPr/>
          <p:nvPr/>
        </p:nvSpPr>
        <p:spPr>
          <a:xfrm>
            <a:off x="4663440" y="1508760"/>
            <a:ext cx="1920240" cy="242316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/>
        </p:spPr>
      </p:sp>
      <p:sp>
        <p:nvSpPr>
          <p:cNvPr id="17" name="Step badge"/>
          <p:cNvSpPr/>
          <p:nvPr/>
        </p:nvSpPr>
        <p:spPr>
          <a:xfrm>
            <a:off x="4846320" y="16916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484632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4846320" y="22402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Monitor</a:t>
            </a:r>
            <a:endParaRPr lang="en-US" sz="1700" dirty="0"/>
          </a:p>
        </p:txBody>
      </p:sp>
      <p:sp>
        <p:nvSpPr>
          <p:cNvPr id="20" name="Text 17"/>
          <p:cNvSpPr txBox="1"/>
          <p:nvPr/>
        </p:nvSpPr>
        <p:spPr>
          <a:xfrm>
            <a:off x="4846320" y="2606040"/>
            <a:ext cx="1554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Watch precision, recall and drift in link and word patterns.</a:t>
            </a:r>
            <a:endParaRPr lang="en-US" sz="1400" dirty="0"/>
          </a:p>
        </p:txBody>
      </p:sp>
      <p:sp>
        <p:nvSpPr>
          <p:cNvPr id="21" name="Step card"/>
          <p:cNvSpPr/>
          <p:nvPr/>
        </p:nvSpPr>
        <p:spPr>
          <a:xfrm>
            <a:off x="6766560" y="1508760"/>
            <a:ext cx="1920240" cy="242316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/>
        </p:spPr>
      </p:sp>
      <p:sp>
        <p:nvSpPr>
          <p:cNvPr id="22" name="Step badge"/>
          <p:cNvSpPr/>
          <p:nvPr/>
        </p:nvSpPr>
        <p:spPr>
          <a:xfrm>
            <a:off x="6949440" y="16916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694944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6949440" y="22402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Retrain</a:t>
            </a:r>
            <a:endParaRPr lang="en-US" sz="1700" dirty="0"/>
          </a:p>
        </p:txBody>
      </p:sp>
      <p:sp>
        <p:nvSpPr>
          <p:cNvPr id="25" name="Text 22"/>
          <p:cNvSpPr txBox="1"/>
          <p:nvPr/>
        </p:nvSpPr>
        <p:spPr>
          <a:xfrm>
            <a:off x="6949440" y="2606040"/>
            <a:ext cx="1554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Scheduled or drift-triggered retraining on new labelled mail.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6"/>
                </a:solidFill>
              </a:rPr>
              <a:t>Tooling: MLflow for experiment tracking · DVC for data versioning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9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 pill"/>
          <p:cNvSpPr/>
          <p:nvPr/>
        </p:nvSpPr>
        <p:spPr>
          <a:xfrm>
            <a:off x="457200" y="292608"/>
            <a:ext cx="1668780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16687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</a:rPr>
              <a:t>COURSE COVERAGE</a:t>
            </a:r>
            <a:endParaRPr lang="en-US" sz="1100" dirty="0"/>
          </a:p>
        </p:txBody>
      </p:sp>
      <p:sp>
        <p:nvSpPr>
          <p:cNvPr id="4" name="Title"/>
          <p:cNvSpPr txBox="1"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 six modules in one project</a:t>
            </a:r>
            <a:endParaRPr lang="en-US" sz="3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822960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2651760"/>
                <a:gridCol w="4572000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1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1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this project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1262B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7F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3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1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 system lifecycle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3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1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Pipeline from raw email to served prediction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3F2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7F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1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models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1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 baseline, scaling, encoding, L2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7F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3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1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Tree-based models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3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1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 and XGBoost, feature importance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3F2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7F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1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Unsupervised learning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1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K-means and PCA on email features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7F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3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1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 and selection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3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1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Stratified 5-fold CV, precision, recall, F1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3F2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7F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1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 engineering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1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Packaging, FastAPI serving, monitoring, retraining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9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 circle"/>
          <p:cNvSpPr/>
          <p:nvPr/>
        </p:nvSpPr>
        <p:spPr>
          <a:xfrm>
            <a:off x="7132320" y="-1188720"/>
            <a:ext cx="3840480" cy="3840480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CONCLUSION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 makes email safer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920240"/>
            <a:ext cx="4937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Both models separate spam from ham well, and cross-validation keeps the comparison honest.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Decision Tree is easy to explain; boosting adds power on complex patterns.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Checking on genuinely new emails is the next step.</a:t>
            </a:r>
            <a:endParaRPr lang="en-US" sz="1600" dirty="0"/>
          </a:p>
        </p:txBody>
      </p:sp>
      <p:sp>
        <p:nvSpPr>
          <p:cNvPr id="6" name="Future card"/>
          <p:cNvSpPr/>
          <p:nvPr/>
        </p:nvSpPr>
        <p:spPr>
          <a:xfrm>
            <a:off x="5760720" y="1920240"/>
            <a:ext cx="2926080" cy="2103120"/>
          </a:xfrm>
          <a:prstGeom prst="roundRect">
            <a:avLst>
              <a:gd name="adj" fmla="val 3478"/>
            </a:avLst>
          </a:prstGeom>
          <a:solidFill>
            <a:schemeClr val="accent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943600" y="20116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Future work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943600" y="2423160"/>
            <a:ext cx="2560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Larger, real-world email data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Deploy with FastAPI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Drift monitoring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297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FE3E1"/>
                </a:solidFill>
              </a:rPr>
              <a:t>Thank you  ·  Questions?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pamShield">
  <a:themeElements>
    <a:clrScheme name="SpamShield">
      <a:dk1>
        <a:srgbClr val="11262B"/>
      </a:dk1>
      <a:lt1>
        <a:srgbClr val="FFFFFF"/>
      </a:lt1>
      <a:dk2>
        <a:srgbClr val="1F4E54"/>
      </a:dk2>
      <a:lt2>
        <a:srgbClr val="EAF3F2"/>
      </a:lt2>
      <a:accent1>
        <a:srgbClr val="1B7F79"/>
      </a:accent1>
      <a:accent2>
        <a:srgbClr val="E8A33D"/>
      </a:accent2>
      <a:accent3>
        <a:srgbClr val="D9534F"/>
      </a:accent3>
      <a:accent4>
        <a:srgbClr val="5B8E7D"/>
      </a:accent4>
      <a:accent5>
        <a:srgbClr val="7A8B99"/>
      </a:accent5>
      <a:accent6>
        <a:srgbClr val="2E3E44"/>
      </a:accent6>
      <a:hlink>
        <a:srgbClr val="1B7F79"/>
      </a:hlink>
      <a:folHlink>
        <a:srgbClr val="7A8B99"/>
      </a:folHlink>
    </a:clrScheme>
    <a:fontScheme name="SpamShield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Spam Email Classification Using Decision Trees and XGBoost</dc:title>
  <dc:subject>PptxGenJS Presentation</dc:subject>
  <dc:creator>Lohitha &amp; Rushvini</dc:creator>
  <cp:lastModifiedBy>Lohitha &amp; Rushvini</cp:lastModifiedBy>
  <cp:revision>1</cp:revision>
  <dcterms:created xsi:type="dcterms:W3CDTF">2026-10-13T17:55:27Z</dcterms:created>
  <dcterms:modified xsi:type="dcterms:W3CDTF">2026-10-13T17:55:27Z</dcterms:modified>
</cp:coreProperties>
</file>